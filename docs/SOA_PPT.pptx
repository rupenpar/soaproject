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AFAF91-1556-40CC-B157-BABCC8E0FF66}">
  <a:tblStyle styleId="{1BAFAF91-1556-40CC-B157-BABCC8E0FF66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chemeClr val="lt1"/>
          </a:solidFill>
        </a:fill>
      </a:tcStyle>
    </a:band1H>
    <a:band2H>
      <a:tcTxStyle/>
    </a:band2H>
    <a:band1V>
      <a:tcTxStyle/>
      <a:tcStyle>
        <a:fill>
          <a:solidFill>
            <a:schemeClr val="lt1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dk1"/>
      </a:tcTxStyle>
      <a:tcStyle>
        <a:fill>
          <a:solidFill>
            <a:schemeClr val="l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dk1"/>
      </a:tcTxStyle>
      <a:tcStyle>
        <a:fill>
          <a:solidFill>
            <a:schemeClr val="l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dk1"/>
      </a:tcTxStyle>
      <a:tcStyle>
        <a:tcBdr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dk1"/>
      </a:tcTxStyle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lt1"/>
          </a:solidFill>
        </a:fill>
      </a:tcStyle>
    </a:firstRow>
    <a:neCell>
      <a:tcTxStyle/>
    </a:neCell>
    <a:nwCell>
      <a:tcTxStyle/>
    </a:nwCell>
  </a:tblStyle>
  <a:tblStyle styleId="{F04F2925-9017-450A-B215-5E63CF23687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b9de9b83c_3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8b9de9b83c_3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8b9de9b83c_3_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b9de9b83c_3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8b9de9b83c_3_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8b9de9b83c_3_1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b9de9b83c_3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8b9de9b83c_3_1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8b9de9b83c_3_1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b9de9b83c_3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8b9de9b83c_3_2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8b9de9b83c_3_2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b9de9b83c_3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8b9de9b83c_3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8b9de9b83c_3_2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b9de9b83c_3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8b9de9b83c_3_2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8b9de9b83c_3_2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b9de9b83c_3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8b9de9b83c_3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8b9de9b83c_3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b9de9b83c_3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8b9de9b83c_3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8b9de9b83c_3_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/>
        </p:nvSpPr>
        <p:spPr>
          <a:xfrm>
            <a:off x="2246709" y="2151160"/>
            <a:ext cx="46505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Wednesday, August 12</a:t>
            </a:r>
            <a:r>
              <a:rPr b="1" baseline="30000" i="0" lang="en" sz="15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i="0" lang="en" sz="15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1" name="Google Shape;161;p25"/>
          <p:cNvGraphicFramePr/>
          <p:nvPr/>
        </p:nvGraphicFramePr>
        <p:xfrm>
          <a:off x="6144952" y="34283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{1BAFAF91-1556-40CC-B157-BABCC8E0FF66}</a:tableStyleId>
              </a:tblPr>
              <a:tblGrid>
                <a:gridCol w="2776525"/>
              </a:tblGrid>
              <a:tr h="56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" sz="12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Members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Rupen Parthu Palavara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Times New Roman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2420090050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Ankit Swami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2420090008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RASAGNA SAI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24200</a:t>
                      </a:r>
                      <a:r>
                        <a:rPr lang="en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30177</a:t>
                      </a:r>
                      <a:endParaRPr b="0"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2" name="Google Shape;162;p25"/>
          <p:cNvGrpSpPr/>
          <p:nvPr/>
        </p:nvGrpSpPr>
        <p:grpSpPr>
          <a:xfrm>
            <a:off x="5985846" y="3556193"/>
            <a:ext cx="230883" cy="210698"/>
            <a:chOff x="1510710" y="1589091"/>
            <a:chExt cx="307843" cy="280931"/>
          </a:xfrm>
        </p:grpSpPr>
        <p:sp>
          <p:nvSpPr>
            <p:cNvPr id="163" name="Google Shape;163;p25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>
                <a:gd fmla="val 50000" name="adj"/>
              </a:avLst>
            </a:prstGeom>
            <a:solidFill>
              <a:srgbClr val="FF66FF"/>
            </a:soli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5"/>
            <p:cNvSpPr/>
            <p:nvPr/>
          </p:nvSpPr>
          <p:spPr>
            <a:xfrm rot="-9747858">
              <a:off x="1683856" y="1639371"/>
              <a:ext cx="114245" cy="153379"/>
            </a:xfrm>
            <a:prstGeom prst="triangle">
              <a:avLst>
                <a:gd fmla="val 50000" name="adj"/>
              </a:avLst>
            </a:prstGeom>
            <a:solidFill>
              <a:srgbClr val="FF66FF"/>
            </a:soli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65" name="Google Shape;165;p25"/>
          <p:cNvGraphicFramePr/>
          <p:nvPr/>
        </p:nvGraphicFramePr>
        <p:xfrm>
          <a:off x="-596860" y="35805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{1BAFAF91-1556-40CC-B157-BABCC8E0FF66}</a:tableStyleId>
              </a:tblPr>
              <a:tblGrid>
                <a:gridCol w="1030175"/>
                <a:gridCol w="3396550"/>
              </a:tblGrid>
              <a:tr h="99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400" u="none" cap="none" strike="noStrik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 the Guidance of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Times New Roman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Dr. Srikanth Cherukuvada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Times New Roman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Assistant Professor,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Times New Roman"/>
                        <a:buNone/>
                      </a:pPr>
                      <a:r>
                        <a:rPr b="1" lang="en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Department of </a:t>
                      </a:r>
                      <a:r>
                        <a:rPr b="1" lang="en" sz="11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Computer Science and Engineering,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Times New Roman"/>
                        <a:buNone/>
                      </a:pPr>
                      <a:r>
                        <a:rPr lang="en" sz="11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KLH CSE Bowrampet Campus</a:t>
                      </a:r>
                      <a:endParaRPr sz="1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6" name="Google Shape;166;p25"/>
          <p:cNvGrpSpPr/>
          <p:nvPr/>
        </p:nvGrpSpPr>
        <p:grpSpPr>
          <a:xfrm>
            <a:off x="289026" y="3403934"/>
            <a:ext cx="230883" cy="210698"/>
            <a:chOff x="1510710" y="1589091"/>
            <a:chExt cx="307843" cy="280931"/>
          </a:xfrm>
        </p:grpSpPr>
        <p:sp>
          <p:nvSpPr>
            <p:cNvPr id="167" name="Google Shape;167;p25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>
                <a:gd fmla="val 50000" name="adj"/>
              </a:avLst>
            </a:prstGeom>
            <a:solidFill>
              <a:srgbClr val="00B0F0"/>
            </a:soli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5"/>
            <p:cNvSpPr/>
            <p:nvPr/>
          </p:nvSpPr>
          <p:spPr>
            <a:xfrm rot="-9747858">
              <a:off x="1683856" y="1639371"/>
              <a:ext cx="114245" cy="153379"/>
            </a:xfrm>
            <a:prstGeom prst="triangle">
              <a:avLst>
                <a:gd fmla="val 50000" name="adj"/>
              </a:avLst>
            </a:prstGeom>
            <a:solidFill>
              <a:srgbClr val="00B0F0"/>
            </a:solidFill>
            <a:ln cap="flat" cmpd="sng" w="19050">
              <a:solidFill>
                <a:srgbClr val="08283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8 August 2026</a:t>
            </a:r>
            <a:endParaRPr b="1"/>
          </a:p>
        </p:txBody>
      </p:sp>
      <p:sp>
        <p:nvSpPr>
          <p:cNvPr id="170" name="Google Shape;170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RTOS Project Review-1</a:t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478631" y="576950"/>
            <a:ext cx="8186738" cy="73923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7035" y="0"/>
            <a:ext cx="1456965" cy="46691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553640" y="608143"/>
            <a:ext cx="8036719" cy="715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BATTERY MANAGEMENT SYSTEM FOR </a:t>
            </a:r>
            <a:br>
              <a:rPr b="1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SOFTWARE-DEFINED EVS</a:t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553639" y="1685104"/>
            <a:ext cx="8037528" cy="43460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SOA Project Review-1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 August 2026</a:t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Ph.D. Viva Voce</a:t>
            </a:r>
            <a:endParaRPr/>
          </a:p>
        </p:txBody>
      </p:sp>
      <p:sp>
        <p:nvSpPr>
          <p:cNvPr id="182" name="Google Shape;182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2265680" y="130160"/>
            <a:ext cx="4390682" cy="4847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700"/>
              <a:buFont typeface="Times New Roman"/>
              <a:buNone/>
            </a:pPr>
            <a:r>
              <a:rPr b="1" i="0" lang="en" sz="2700" u="none" cap="none" strike="noStrik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 of Research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26"/>
          <p:cNvGrpSpPr/>
          <p:nvPr/>
        </p:nvGrpSpPr>
        <p:grpSpPr>
          <a:xfrm>
            <a:off x="1501020" y="1033497"/>
            <a:ext cx="5088323" cy="3329233"/>
            <a:chOff x="1929643" y="1656655"/>
            <a:chExt cx="6784431" cy="4438977"/>
          </a:xfrm>
        </p:grpSpPr>
        <p:sp>
          <p:nvSpPr>
            <p:cNvPr id="185" name="Google Shape;185;p26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-24765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Char char="•"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Challenges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p26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-24765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Char char="•"/>
              </a:pPr>
              <a:r>
                <a:rPr b="1" i="0" lang="en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 Objectives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" name="Google Shape;187;p26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-24765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Char char="•"/>
              </a:pPr>
              <a:r>
                <a:rPr b="1" i="0" lang="en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 &amp; Future Work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p26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-24765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Char char="•"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  <a:br>
                <a:rPr b="1" i="0" lang="en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endPara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26"/>
            <p:cNvSpPr txBox="1"/>
            <p:nvPr/>
          </p:nvSpPr>
          <p:spPr>
            <a:xfrm>
              <a:off x="3822549" y="5483028"/>
              <a:ext cx="4891525" cy="612604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-24765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Char char="•"/>
              </a:pPr>
              <a:r>
                <a:rPr b="1" i="0" lang="en" sz="1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Publications Details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90" name="Google Shape;190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8229530" y="5002476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6"/>
            <p:cNvSpPr txBox="1"/>
            <p:nvPr/>
          </p:nvSpPr>
          <p:spPr>
            <a:xfrm>
              <a:off x="1929643" y="1656655"/>
              <a:ext cx="3548329" cy="748994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normAutofit/>
            </a:bodyPr>
            <a:lstStyle/>
            <a:p>
              <a:pPr indent="-24765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Char char="•"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3500" lvl="0" marL="177800" marR="0" rtl="0" algn="l">
                <a:lnSpc>
                  <a:spcPct val="13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3500" lvl="0" marL="177800" marR="0" rtl="0" algn="l">
                <a:lnSpc>
                  <a:spcPct val="13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35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p26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normAutofit/>
            </a:bodyPr>
            <a:lstStyle/>
            <a:p>
              <a:pPr indent="-24765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Char char="•"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27000" lvl="0" marL="317500" marR="0" rtl="0" algn="l">
                <a:lnSpc>
                  <a:spcPct val="15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3500" lvl="0" marL="177800" marR="0" rtl="0" algn="l">
                <a:lnSpc>
                  <a:spcPct val="13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3500" lvl="0" marL="177800" marR="0" rtl="0" algn="l">
                <a:lnSpc>
                  <a:spcPct val="13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635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193" name="Google Shape;193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7683523" y="4358877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7229942" y="3813495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6863352" y="3200501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6443196" y="2766955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6040392" y="2252522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84243">
              <a:off x="5626122" y="1721293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6"/>
            <p:cNvSpPr txBox="1"/>
            <p:nvPr/>
          </p:nvSpPr>
          <p:spPr>
            <a:xfrm>
              <a:off x="2490411" y="2773625"/>
              <a:ext cx="4004225" cy="506869"/>
            </a:xfrm>
            <a:prstGeom prst="rect">
              <a:avLst/>
            </a:prstGeom>
            <a:solidFill>
              <a:srgbClr val="3F3F3F"/>
            </a:solidFill>
            <a:ln cap="flat" cmpd="sng" w="19050">
              <a:solidFill>
                <a:schemeClr val="accent4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-247650" lvl="0" marL="3175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900"/>
                <a:buFont typeface="Arial"/>
                <a:buChar char="•"/>
              </a:pPr>
              <a:r>
                <a:rPr b="1" i="0" lang="en" sz="15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  <a:endParaRPr b="1" i="0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200" name="Google Shape;2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7035" y="0"/>
            <a:ext cx="1425832" cy="466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/>
        </p:nvSpPr>
        <p:spPr>
          <a:xfrm>
            <a:off x="2993923" y="361674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7035" y="0"/>
            <a:ext cx="1456965" cy="4669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/>
          <p:nvPr/>
        </p:nvSpPr>
        <p:spPr>
          <a:xfrm>
            <a:off x="514599" y="971103"/>
            <a:ext cx="8408848" cy="171476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Large Language Models achieve strong mathematical reasoning but require significant computational resources, making them impractical for resource-constrained environments, while traditional rule-based and machine learning approaches lack generalization across diverse mathematical problems. Therefore, there is a need for a lightweight Transformer-based Small Language Model capable of efficient step-by-step mathematical reasoning.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/>
        </p:nvSpPr>
        <p:spPr>
          <a:xfrm>
            <a:off x="2286000" y="351876"/>
            <a:ext cx="45720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7035" y="0"/>
            <a:ext cx="1456965" cy="46691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8"/>
          <p:cNvSpPr txBox="1"/>
          <p:nvPr/>
        </p:nvSpPr>
        <p:spPr>
          <a:xfrm>
            <a:off x="347168" y="836624"/>
            <a:ext cx="8621468" cy="33606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Develop a Transformer-based Small Language Model (MathSLM) for mathematical reasoning and problem solving.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Train the model on publicly available mathematical reasoning datasets to learn mathematical concepts and solution patterns.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Generate accurate step-by-step solutions for mathematical problems using autoregressive text generation. 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Evaluate the model using metrics such as validation loss, perplexity, token prediction accuracy, and mathematical answer accuracy. 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Deploy the trained model through an interactive Streamlit-based web application for real-time mathematical query solving.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Provide a lightweight and computationally efficient alternative to large language models for educational and resource-constrained environments.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Google Shape;222;p29"/>
          <p:cNvGraphicFramePr/>
          <p:nvPr/>
        </p:nvGraphicFramePr>
        <p:xfrm>
          <a:off x="205985" y="6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{F04F2925-9017-450A-B215-5E63CF23687F}</a:tableStyleId>
              </a:tblPr>
              <a:tblGrid>
                <a:gridCol w="1476375"/>
                <a:gridCol w="1333500"/>
                <a:gridCol w="1095375"/>
                <a:gridCol w="2476500"/>
                <a:gridCol w="2350275"/>
              </a:tblGrid>
              <a:tr h="326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highlight>
                            <a:srgbClr val="156082"/>
                          </a:highlight>
                        </a:rPr>
                        <a:t>Paper</a:t>
                      </a:r>
                      <a:endParaRPr b="1" sz="1000">
                        <a:solidFill>
                          <a:srgbClr val="FFFFFF"/>
                        </a:solidFill>
                        <a:highlight>
                          <a:srgbClr val="156082"/>
                        </a:highlight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highlight>
                            <a:srgbClr val="156082"/>
                          </a:highlight>
                        </a:rPr>
                        <a:t>Model / Approach</a:t>
                      </a:r>
                      <a:endParaRPr b="1" sz="1000">
                        <a:solidFill>
                          <a:srgbClr val="FFFFFF"/>
                        </a:solidFill>
                        <a:highlight>
                          <a:srgbClr val="156082"/>
                        </a:highlight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highlight>
                            <a:srgbClr val="156082"/>
                          </a:highlight>
                        </a:rPr>
                        <a:t>Dataset</a:t>
                      </a:r>
                      <a:endParaRPr b="1" sz="1000">
                        <a:solidFill>
                          <a:srgbClr val="FFFFFF"/>
                        </a:solidFill>
                        <a:highlight>
                          <a:srgbClr val="156082"/>
                        </a:highlight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highlight>
                            <a:srgbClr val="156082"/>
                          </a:highlight>
                        </a:rPr>
                        <a:t>Key Finding</a:t>
                      </a:r>
                      <a:endParaRPr b="1" sz="1000">
                        <a:solidFill>
                          <a:srgbClr val="FFFFFF"/>
                        </a:solidFill>
                        <a:highlight>
                          <a:srgbClr val="156082"/>
                        </a:highlight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highlight>
                            <a:srgbClr val="156082"/>
                          </a:highlight>
                        </a:rPr>
                        <a:t>Research Gap</a:t>
                      </a:r>
                      <a:endParaRPr b="1" sz="1000">
                        <a:solidFill>
                          <a:srgbClr val="FFFFFF"/>
                        </a:solidFill>
                        <a:highlight>
                          <a:srgbClr val="156082"/>
                        </a:highlight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60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7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Minerva: Solving Quantitative Reasoning Problems with Language Models (2022)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PaLM Fine-tuned for Mathematics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MATH, GSM8K, MMLU-STEM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Demonstrated strong mathematical reasoning using large language models with chain-of-thought generation.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Requires extremely large models and significant computational resources.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Training Verifiers to Solve Math Word Problems (2021)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GPT-3 + Verifier Model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GSM8K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Verification models significantly improve mathematical reasoning accuracy over direct generation.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Computationally expensive and dependent on large-scale models.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TinyLlama: An Open-Source Small Language Model (2024)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Decoder-Only Transformer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SlimPajama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Small language models can achieve competitive performance while requiring substantially fewer computational resources.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Not specialized for mathematical reasoning tasks.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Phi-2: The Surprising Power of Small Language Models (2023)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Transformer-based Small Language Model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Synthetic Textbooks + Web Data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High-quality training data enables compact language models to perform strong reasoning tasks.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8FAFC"/>
                          </a:highlight>
                        </a:rPr>
                        <a:t>General-purpose model without domain-specific mathematical optimization.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3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Qwen2.5 Technical Report (2024)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Decoder-Only Transformer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Large Multi-domain Corpus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Demonstrates strong reasoning and multilingual capabilities across various benchmark tasks.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50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Higher computational requirements and not designed specifically for lightweight mathematical applications.</a:t>
                      </a:r>
                      <a:endParaRPr sz="850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47625" marB="47625" marR="47625" marL="47625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29"/>
          <p:cNvSpPr txBox="1"/>
          <p:nvPr/>
        </p:nvSpPr>
        <p:spPr>
          <a:xfrm>
            <a:off x="3420425" y="102400"/>
            <a:ext cx="2933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cap="none" strike="noStrike">
                <a:solidFill>
                  <a:schemeClr val="dk1"/>
                </a:solidFill>
              </a:rPr>
              <a:t>Literature Survey</a:t>
            </a:r>
            <a:endParaRPr b="1" i="0" sz="2100" cap="none" strike="noStrike">
              <a:solidFill>
                <a:schemeClr val="dk1"/>
              </a:solidFill>
            </a:endParaRPr>
          </a:p>
        </p:txBody>
      </p:sp>
      <p:sp>
        <p:nvSpPr>
          <p:cNvPr id="224" name="Google Shape;224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 August 2026</a:t>
            </a:r>
            <a:endParaRPr/>
          </a:p>
        </p:txBody>
      </p:sp>
      <p:sp>
        <p:nvSpPr>
          <p:cNvPr id="225" name="Google Shape;225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Ph.D. Viva Voce</a:t>
            </a:r>
            <a:endParaRPr/>
          </a:p>
        </p:txBody>
      </p:sp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7035" y="0"/>
            <a:ext cx="1456965" cy="466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/>
        </p:nvSpPr>
        <p:spPr>
          <a:xfrm>
            <a:off x="1044150" y="450050"/>
            <a:ext cx="7179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Gap Identification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7035" y="0"/>
            <a:ext cx="1456965" cy="46691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0"/>
          <p:cNvSpPr txBox="1"/>
          <p:nvPr/>
        </p:nvSpPr>
        <p:spPr>
          <a:xfrm>
            <a:off x="224384" y="1097279"/>
            <a:ext cx="8731469" cy="19890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High computational and memory requirements for deployment.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Limited availability of lightweight models specialized for mathematical reasoning.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Existing small language models are primarily general-purpose and not optimized for step-by-step mathematical problem solving.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Traditional rule-based systems struggle to generalize across diverse mathematical domains.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Lack of efficient Transformer-based Small Language Models for educational and real-time mathematical reasoning applications.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/>
        </p:nvSpPr>
        <p:spPr>
          <a:xfrm>
            <a:off x="1419796" y="285750"/>
            <a:ext cx="6304500" cy="47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Innovation, Creativity, and Novelty</a:t>
            </a:r>
            <a:endParaRPr b="1"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7035" y="0"/>
            <a:ext cx="1456965" cy="466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31"/>
          <p:cNvGrpSpPr/>
          <p:nvPr/>
        </p:nvGrpSpPr>
        <p:grpSpPr>
          <a:xfrm>
            <a:off x="428625" y="1095375"/>
            <a:ext cx="2524200" cy="3429000"/>
            <a:chOff x="0" y="0"/>
            <a:chExt cx="2524200" cy="3429000"/>
          </a:xfrm>
        </p:grpSpPr>
        <p:sp>
          <p:nvSpPr>
            <p:cNvPr id="244" name="Google Shape;244;p31"/>
            <p:cNvSpPr/>
            <p:nvPr/>
          </p:nvSpPr>
          <p:spPr>
            <a:xfrm>
              <a:off x="0" y="0"/>
              <a:ext cx="2524200" cy="3429000"/>
            </a:xfrm>
            <a:prstGeom prst="roundRect">
              <a:avLst>
                <a:gd fmla="val 3773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1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1"/>
            <p:cNvSpPr txBox="1"/>
            <p:nvPr/>
          </p:nvSpPr>
          <p:spPr>
            <a:xfrm>
              <a:off x="0" y="0"/>
              <a:ext cx="25242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550" lIns="171450" spcFirstLastPara="1" rIns="17145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15608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800">
                <a:solidFill>
                  <a:srgbClr val="15608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Domain-Specific SLM Architecture</a:t>
              </a:r>
              <a:endParaRPr b="1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Tailored Small Language Model (MathSLM) designed explicitly for mathematical reasoning.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Replaces heavy, resource-intensive general LLMs with a focused decoder-only Transformer.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Optimized parameter efficiency without sacrificing accuracy.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31"/>
          <p:cNvGrpSpPr/>
          <p:nvPr/>
        </p:nvGrpSpPr>
        <p:grpSpPr>
          <a:xfrm>
            <a:off x="3305175" y="1095375"/>
            <a:ext cx="2524200" cy="3429000"/>
            <a:chOff x="0" y="0"/>
            <a:chExt cx="2524200" cy="3429000"/>
          </a:xfrm>
        </p:grpSpPr>
        <p:sp>
          <p:nvSpPr>
            <p:cNvPr id="248" name="Google Shape;248;p31"/>
            <p:cNvSpPr/>
            <p:nvPr/>
          </p:nvSpPr>
          <p:spPr>
            <a:xfrm>
              <a:off x="0" y="0"/>
              <a:ext cx="2524200" cy="3429000"/>
            </a:xfrm>
            <a:prstGeom prst="roundRect">
              <a:avLst>
                <a:gd fmla="val 3773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1"/>
            <p:cNvSpPr txBox="1"/>
            <p:nvPr/>
          </p:nvSpPr>
          <p:spPr>
            <a:xfrm>
              <a:off x="0" y="0"/>
              <a:ext cx="25242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550" lIns="171450" spcFirstLastPara="1" rIns="17145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15608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 sz="2800">
                <a:solidFill>
                  <a:srgbClr val="15608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Step-by-Step Autoregressive Reasoning</a:t>
              </a:r>
              <a:endParaRPr b="1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Generates transparent, step-by-step mathematical problem-solving patterns.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Fine-tuned on structured mathematical reasoning datasets.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Improves explainability and token prediction accuracy for complex queries.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1" name="Google Shape;251;p31"/>
          <p:cNvGrpSpPr/>
          <p:nvPr/>
        </p:nvGrpSpPr>
        <p:grpSpPr>
          <a:xfrm>
            <a:off x="6191250" y="1095375"/>
            <a:ext cx="2524200" cy="3429000"/>
            <a:chOff x="0" y="0"/>
            <a:chExt cx="2524200" cy="3429000"/>
          </a:xfrm>
        </p:grpSpPr>
        <p:sp>
          <p:nvSpPr>
            <p:cNvPr id="252" name="Google Shape;252;p31"/>
            <p:cNvSpPr/>
            <p:nvPr/>
          </p:nvSpPr>
          <p:spPr>
            <a:xfrm>
              <a:off x="0" y="0"/>
              <a:ext cx="2524200" cy="3429000"/>
            </a:xfrm>
            <a:prstGeom prst="roundRect">
              <a:avLst>
                <a:gd fmla="val 3773" name="adj"/>
              </a:avLst>
            </a:prstGeom>
            <a:solidFill>
              <a:srgbClr val="F8FAFC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0" y="0"/>
              <a:ext cx="2524200" cy="573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 txBox="1"/>
            <p:nvPr/>
          </p:nvSpPr>
          <p:spPr>
            <a:xfrm>
              <a:off x="0" y="0"/>
              <a:ext cx="25242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9550" lIns="171450" spcFirstLastPara="1" rIns="171450" wrap="square" tIns="209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15608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endParaRPr sz="2800">
                <a:solidFill>
                  <a:srgbClr val="15608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Accessible &amp; Lightweight Deployment</a:t>
              </a:r>
              <a:endParaRPr b="1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Integrated into an interactive, real-time Streamlit web application.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Designed for educational and resource-constrained environments.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50"/>
                <a:buFont typeface="Arial"/>
                <a:buChar char="●"/>
              </a:pPr>
              <a:r>
                <a:rPr lang="en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Provides low-latency inference on standard hardware.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/>
        </p:nvSpPr>
        <p:spPr>
          <a:xfrm>
            <a:off x="1961535" y="413293"/>
            <a:ext cx="5425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Feasibility and Project Plan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7035" y="0"/>
            <a:ext cx="1456965" cy="466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3563" y="1247775"/>
            <a:ext cx="19200" cy="3009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32"/>
          <p:cNvGrpSpPr/>
          <p:nvPr/>
        </p:nvGrpSpPr>
        <p:grpSpPr>
          <a:xfrm>
            <a:off x="1333500" y="1047750"/>
            <a:ext cx="6477000" cy="400200"/>
            <a:chOff x="0" y="0"/>
            <a:chExt cx="6477000" cy="400200"/>
          </a:xfrm>
        </p:grpSpPr>
        <p:sp>
          <p:nvSpPr>
            <p:cNvPr id="264" name="Google Shape;264;p32"/>
            <p:cNvSpPr/>
            <p:nvPr/>
          </p:nvSpPr>
          <p:spPr>
            <a:xfrm>
              <a:off x="0" y="0"/>
              <a:ext cx="64770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47625" y="47625"/>
              <a:ext cx="904800" cy="3048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2"/>
            <p:cNvSpPr txBox="1"/>
            <p:nvPr/>
          </p:nvSpPr>
          <p:spPr>
            <a:xfrm>
              <a:off x="47625" y="47625"/>
              <a:ext cx="9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PHASE 1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32"/>
            <p:cNvSpPr txBox="1"/>
            <p:nvPr/>
          </p:nvSpPr>
          <p:spPr>
            <a:xfrm>
              <a:off x="1095375" y="0"/>
              <a:ext cx="52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Literature Survey &amp; Requirement Analysis</a:t>
              </a:r>
              <a:endParaRPr b="1" sz="11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32"/>
          <p:cNvGrpSpPr/>
          <p:nvPr/>
        </p:nvGrpSpPr>
        <p:grpSpPr>
          <a:xfrm>
            <a:off x="1333500" y="1543050"/>
            <a:ext cx="6477000" cy="400200"/>
            <a:chOff x="0" y="0"/>
            <a:chExt cx="6477000" cy="400200"/>
          </a:xfrm>
        </p:grpSpPr>
        <p:sp>
          <p:nvSpPr>
            <p:cNvPr id="269" name="Google Shape;269;p32"/>
            <p:cNvSpPr/>
            <p:nvPr/>
          </p:nvSpPr>
          <p:spPr>
            <a:xfrm>
              <a:off x="0" y="0"/>
              <a:ext cx="64770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2"/>
            <p:cNvSpPr/>
            <p:nvPr/>
          </p:nvSpPr>
          <p:spPr>
            <a:xfrm>
              <a:off x="47625" y="47625"/>
              <a:ext cx="904800" cy="3048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2"/>
            <p:cNvSpPr txBox="1"/>
            <p:nvPr/>
          </p:nvSpPr>
          <p:spPr>
            <a:xfrm>
              <a:off x="47625" y="47625"/>
              <a:ext cx="9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PHASE 2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2"/>
            <p:cNvSpPr txBox="1"/>
            <p:nvPr/>
          </p:nvSpPr>
          <p:spPr>
            <a:xfrm>
              <a:off x="1095375" y="0"/>
              <a:ext cx="52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Mathematical Dataset Collection &amp; Data Preprocessing</a:t>
              </a:r>
              <a:endParaRPr b="1" sz="11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32"/>
          <p:cNvGrpSpPr/>
          <p:nvPr/>
        </p:nvGrpSpPr>
        <p:grpSpPr>
          <a:xfrm>
            <a:off x="1333500" y="2038350"/>
            <a:ext cx="6477000" cy="400200"/>
            <a:chOff x="0" y="0"/>
            <a:chExt cx="6477000" cy="400200"/>
          </a:xfrm>
        </p:grpSpPr>
        <p:sp>
          <p:nvSpPr>
            <p:cNvPr id="274" name="Google Shape;274;p32"/>
            <p:cNvSpPr/>
            <p:nvPr/>
          </p:nvSpPr>
          <p:spPr>
            <a:xfrm>
              <a:off x="0" y="0"/>
              <a:ext cx="64770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47625" y="47625"/>
              <a:ext cx="904800" cy="3048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2"/>
            <p:cNvSpPr txBox="1"/>
            <p:nvPr/>
          </p:nvSpPr>
          <p:spPr>
            <a:xfrm>
              <a:off x="47625" y="47625"/>
              <a:ext cx="9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PHASE 3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2"/>
            <p:cNvSpPr txBox="1"/>
            <p:nvPr/>
          </p:nvSpPr>
          <p:spPr>
            <a:xfrm>
              <a:off x="1095375" y="0"/>
              <a:ext cx="52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Tokenization &amp; Dataset Preparation</a:t>
              </a:r>
              <a:endParaRPr b="1" sz="11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32"/>
          <p:cNvGrpSpPr/>
          <p:nvPr/>
        </p:nvGrpSpPr>
        <p:grpSpPr>
          <a:xfrm>
            <a:off x="1333500" y="2533650"/>
            <a:ext cx="6477000" cy="400200"/>
            <a:chOff x="0" y="0"/>
            <a:chExt cx="6477000" cy="400200"/>
          </a:xfrm>
        </p:grpSpPr>
        <p:sp>
          <p:nvSpPr>
            <p:cNvPr id="279" name="Google Shape;279;p32"/>
            <p:cNvSpPr/>
            <p:nvPr/>
          </p:nvSpPr>
          <p:spPr>
            <a:xfrm>
              <a:off x="0" y="0"/>
              <a:ext cx="64770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2"/>
            <p:cNvSpPr/>
            <p:nvPr/>
          </p:nvSpPr>
          <p:spPr>
            <a:xfrm>
              <a:off x="47625" y="47625"/>
              <a:ext cx="904800" cy="3048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2"/>
            <p:cNvSpPr txBox="1"/>
            <p:nvPr/>
          </p:nvSpPr>
          <p:spPr>
            <a:xfrm>
              <a:off x="47625" y="47625"/>
              <a:ext cx="9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PHASE 4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2"/>
            <p:cNvSpPr txBox="1"/>
            <p:nvPr/>
          </p:nvSpPr>
          <p:spPr>
            <a:xfrm>
              <a:off x="1095375" y="0"/>
              <a:ext cx="52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Transformer Model Development &amp; Training</a:t>
              </a:r>
              <a:endParaRPr b="1" sz="11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3" name="Google Shape;283;p32"/>
          <p:cNvGrpSpPr/>
          <p:nvPr/>
        </p:nvGrpSpPr>
        <p:grpSpPr>
          <a:xfrm>
            <a:off x="1333500" y="3028950"/>
            <a:ext cx="6477000" cy="400200"/>
            <a:chOff x="0" y="0"/>
            <a:chExt cx="6477000" cy="400200"/>
          </a:xfrm>
        </p:grpSpPr>
        <p:sp>
          <p:nvSpPr>
            <p:cNvPr id="284" name="Google Shape;284;p32"/>
            <p:cNvSpPr/>
            <p:nvPr/>
          </p:nvSpPr>
          <p:spPr>
            <a:xfrm>
              <a:off x="0" y="0"/>
              <a:ext cx="64770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47625" y="47625"/>
              <a:ext cx="904800" cy="3048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2"/>
            <p:cNvSpPr txBox="1"/>
            <p:nvPr/>
          </p:nvSpPr>
          <p:spPr>
            <a:xfrm>
              <a:off x="47625" y="47625"/>
              <a:ext cx="9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PHASE 5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2"/>
            <p:cNvSpPr txBox="1"/>
            <p:nvPr/>
          </p:nvSpPr>
          <p:spPr>
            <a:xfrm>
              <a:off x="1095375" y="0"/>
              <a:ext cx="52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Model Evaluation &amp; Mathematical Reasoning Testing</a:t>
              </a:r>
              <a:endParaRPr b="1" sz="11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32"/>
          <p:cNvGrpSpPr/>
          <p:nvPr/>
        </p:nvGrpSpPr>
        <p:grpSpPr>
          <a:xfrm>
            <a:off x="1333500" y="3524250"/>
            <a:ext cx="6477000" cy="400200"/>
            <a:chOff x="0" y="0"/>
            <a:chExt cx="6477000" cy="400200"/>
          </a:xfrm>
        </p:grpSpPr>
        <p:sp>
          <p:nvSpPr>
            <p:cNvPr id="289" name="Google Shape;289;p32"/>
            <p:cNvSpPr/>
            <p:nvPr/>
          </p:nvSpPr>
          <p:spPr>
            <a:xfrm>
              <a:off x="0" y="0"/>
              <a:ext cx="64770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2"/>
            <p:cNvSpPr/>
            <p:nvPr/>
          </p:nvSpPr>
          <p:spPr>
            <a:xfrm>
              <a:off x="47625" y="47625"/>
              <a:ext cx="904800" cy="3048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2"/>
            <p:cNvSpPr txBox="1"/>
            <p:nvPr/>
          </p:nvSpPr>
          <p:spPr>
            <a:xfrm>
              <a:off x="47625" y="47625"/>
              <a:ext cx="9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PHASE 6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2"/>
            <p:cNvSpPr txBox="1"/>
            <p:nvPr/>
          </p:nvSpPr>
          <p:spPr>
            <a:xfrm>
              <a:off x="1095375" y="0"/>
              <a:ext cx="52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Streamlit Web Application Development &amp; Model Integration</a:t>
              </a:r>
              <a:endParaRPr b="1" sz="11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32"/>
          <p:cNvGrpSpPr/>
          <p:nvPr/>
        </p:nvGrpSpPr>
        <p:grpSpPr>
          <a:xfrm>
            <a:off x="1333500" y="4019550"/>
            <a:ext cx="6477000" cy="400200"/>
            <a:chOff x="0" y="0"/>
            <a:chExt cx="6477000" cy="400200"/>
          </a:xfrm>
        </p:grpSpPr>
        <p:sp>
          <p:nvSpPr>
            <p:cNvPr id="294" name="Google Shape;294;p32"/>
            <p:cNvSpPr/>
            <p:nvPr/>
          </p:nvSpPr>
          <p:spPr>
            <a:xfrm>
              <a:off x="0" y="0"/>
              <a:ext cx="6477000" cy="400200"/>
            </a:xfrm>
            <a:prstGeom prst="roundRect">
              <a:avLst>
                <a:gd fmla="val 19047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2"/>
            <p:cNvSpPr/>
            <p:nvPr/>
          </p:nvSpPr>
          <p:spPr>
            <a:xfrm>
              <a:off x="47625" y="47625"/>
              <a:ext cx="904800" cy="304800"/>
            </a:xfrm>
            <a:prstGeom prst="roundRect">
              <a:avLst>
                <a:gd fmla="val 50000" name="adj"/>
              </a:avLst>
            </a:prstGeom>
            <a:solidFill>
              <a:srgbClr val="15608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2"/>
            <p:cNvSpPr txBox="1"/>
            <p:nvPr/>
          </p:nvSpPr>
          <p:spPr>
            <a:xfrm>
              <a:off x="47625" y="47625"/>
              <a:ext cx="9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PHASE 7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2"/>
            <p:cNvSpPr txBox="1"/>
            <p:nvPr/>
          </p:nvSpPr>
          <p:spPr>
            <a:xfrm>
              <a:off x="1095375" y="0"/>
              <a:ext cx="52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Documentation, Testing &amp; Final Presentation</a:t>
              </a:r>
              <a:endParaRPr b="1" sz="11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